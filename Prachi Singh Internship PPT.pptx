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87" r:id="rId4"/>
    <p:sldId id="288" r:id="rId5"/>
    <p:sldId id="289" r:id="rId6"/>
    <p:sldId id="290" r:id="rId7"/>
    <p:sldId id="291" r:id="rId8"/>
    <p:sldId id="292" r:id="rId9"/>
    <p:sldId id="286" r:id="rId10"/>
  </p:sldIdLst>
  <p:sldSz cx="12192000" cy="6858000"/>
  <p:notesSz cx="6858000" cy="9144000"/>
  <p:embeddedFontLst>
    <p:embeddedFont>
      <p:font typeface="Baskerville Old Face" panose="02020602080505020303" pitchFamily="18" charset="0"/>
      <p:regular r:id="rId12"/>
    </p:embeddedFont>
    <p:embeddedFont>
      <p:font typeface="Corbel" panose="020B0503020204020204" pitchFamily="34" charset="0"/>
      <p:regular r:id="rId13"/>
      <p:bold r:id="rId14"/>
      <p:italic r:id="rId15"/>
      <p:boldItalic r:id="rId16"/>
    </p:embeddedFont>
    <p:embeddedFont>
      <p:font typeface="Pinyon Script" panose="020B0604020202020204" charset="0"/>
      <p:regular r:id="rId17"/>
    </p:embeddedFont>
    <p:embeddedFont>
      <p:font typeface="Play" panose="020B0604020202020204"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20" autoAdjust="0"/>
  </p:normalViewPr>
  <p:slideViewPr>
    <p:cSldViewPr snapToGrid="0">
      <p:cViewPr varScale="1">
        <p:scale>
          <a:sx n="59" d="100"/>
          <a:sy n="59" d="100"/>
        </p:scale>
        <p:origin x="9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4"/>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4"/>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29" name="Google Shape;29;p34"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1" name="Google Shape;4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44" name="Google Shape;44;p36"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7"/>
          <p:cNvSpPr txBox="1">
            <a:spLocks noGrp="1"/>
          </p:cNvSpPr>
          <p:nvPr>
            <p:ph type="title"/>
          </p:nvPr>
        </p:nvSpPr>
        <p:spPr>
          <a:xfrm>
            <a:off x="839788" y="74789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54" name="Google Shape;54;p37"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38"/>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60" name="Google Shape;60;p38"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65" name="Google Shape;65;p39"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40"/>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73" name="Google Shape;73;p40"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a:spLocks noGrp="1"/>
          </p:cNvSpPr>
          <p:nvPr>
            <p:ph type="pic" idx="2"/>
          </p:nvPr>
        </p:nvSpPr>
        <p:spPr>
          <a:xfrm>
            <a:off x="5183188" y="987425"/>
            <a:ext cx="6172200" cy="4873625"/>
          </a:xfrm>
          <a:prstGeom prst="rect">
            <a:avLst/>
          </a:prstGeom>
          <a:noFill/>
          <a:ln>
            <a:noFill/>
          </a:ln>
        </p:spPr>
      </p:sp>
      <p:sp>
        <p:nvSpPr>
          <p:cNvPr id="77" name="Google Shape;77;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81" name="Google Shape;81;p41"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4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2"/>
          <p:cNvSpPr txBox="1">
            <a:spLocks noGrp="1"/>
          </p:cNvSpPr>
          <p:nvPr>
            <p:ph type="body" idx="1"/>
          </p:nvPr>
        </p:nvSpPr>
        <p:spPr>
          <a:xfrm rot="5400000">
            <a:off x="4264182" y="-1130089"/>
            <a:ext cx="4058682" cy="109141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88" name="Google Shape;88;p42"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rot="5400000">
            <a:off x="7446169" y="2269331"/>
            <a:ext cx="51863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2112169" y="-283368"/>
            <a:ext cx="5186362"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pic>
        <p:nvPicPr>
          <p:cNvPr id="95" name="Google Shape;95;p43" descr="Top Private University in India | MBA, BBA, B.Tech ..."/>
          <p:cNvPicPr preferRelativeResize="0"/>
          <p:nvPr/>
        </p:nvPicPr>
        <p:blipFill rotWithShape="1">
          <a:blip r:embed="rId2"/>
          <a:srcRect/>
          <a:stretch>
            <a:fillRect/>
          </a:stretch>
        </p:blipFill>
        <p:spPr>
          <a:xfrm>
            <a:off x="144017" y="208994"/>
            <a:ext cx="2347573" cy="7816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pic>
        <p:nvPicPr>
          <p:cNvPr id="15" name="Google Shape;15;p32" descr="Top Private University in India | MBA, BBA, B.Tech ..."/>
          <p:cNvPicPr preferRelativeResize="0"/>
          <p:nvPr/>
        </p:nvPicPr>
        <p:blipFill rotWithShape="1">
          <a:blip r:embed="rId12"/>
          <a:srcRect/>
          <a:stretch>
            <a:fillRect/>
          </a:stretch>
        </p:blipFill>
        <p:spPr>
          <a:xfrm>
            <a:off x="144017" y="208994"/>
            <a:ext cx="2347573" cy="781607"/>
          </a:xfrm>
          <a:prstGeom prst="rect">
            <a:avLst/>
          </a:prstGeom>
          <a:noFill/>
          <a:ln>
            <a:noFill/>
          </a:ln>
        </p:spPr>
      </p:pic>
      <p:pic>
        <p:nvPicPr>
          <p:cNvPr id="16" name="Google Shape;16;p32"/>
          <p:cNvPicPr preferRelativeResize="0"/>
          <p:nvPr/>
        </p:nvPicPr>
        <p:blipFill rotWithShape="1">
          <a:blip r:embed="rId13">
            <a:alphaModFix amt="7000"/>
          </a:blip>
          <a:srcRect/>
          <a:stretch>
            <a:fillRect/>
          </a:stretch>
        </p:blipFill>
        <p:spPr>
          <a:xfrm>
            <a:off x="1236794" y="2297668"/>
            <a:ext cx="9718411" cy="27211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524000" y="1332137"/>
            <a:ext cx="9144000" cy="1900013"/>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4400"/>
              <a:buFont typeface="Times New Roman" panose="02020603050405020304"/>
              <a:buNone/>
            </a:pPr>
            <a:r>
              <a:rPr lang="en-US" sz="4400" b="1" dirty="0">
                <a:latin typeface="Times New Roman" panose="02020603050405020304"/>
                <a:ea typeface="Times New Roman" panose="02020603050405020304"/>
                <a:cs typeface="Times New Roman" panose="02020603050405020304"/>
                <a:sym typeface="Times New Roman" panose="02020603050405020304"/>
              </a:rPr>
              <a:t>School of Computer Science and Engineering</a:t>
            </a:r>
            <a:br>
              <a:rPr lang="en-US" sz="4400" b="1" dirty="0">
                <a:latin typeface="Times New Roman" panose="02020603050405020304"/>
                <a:ea typeface="Times New Roman" panose="02020603050405020304"/>
                <a:cs typeface="Times New Roman" panose="02020603050405020304"/>
                <a:sym typeface="Times New Roman" panose="02020603050405020304"/>
              </a:rPr>
            </a:br>
            <a:r>
              <a:rPr lang="en-US" sz="3600" b="1" dirty="0" err="1">
                <a:latin typeface="Times New Roman" panose="02020603050405020304"/>
                <a:ea typeface="Times New Roman" panose="02020603050405020304"/>
                <a:cs typeface="Times New Roman" panose="02020603050405020304"/>
                <a:sym typeface="Times New Roman" panose="02020603050405020304"/>
              </a:rPr>
              <a:t>B.Tech</a:t>
            </a:r>
            <a:r>
              <a:rPr lang="en-US" sz="3600" b="1" dirty="0">
                <a:latin typeface="Times New Roman" panose="02020603050405020304"/>
                <a:ea typeface="Times New Roman" panose="02020603050405020304"/>
                <a:cs typeface="Times New Roman" panose="02020603050405020304"/>
                <a:sym typeface="Times New Roman" panose="02020603050405020304"/>
              </a:rPr>
              <a:t> (CSE) </a:t>
            </a:r>
            <a:r>
              <a:rPr lang="en-GB" altLang="en-US" sz="3600" b="1" dirty="0">
                <a:latin typeface="Times New Roman" panose="02020603050405020304"/>
                <a:ea typeface="Times New Roman" panose="02020603050405020304"/>
                <a:cs typeface="Times New Roman" panose="02020603050405020304"/>
                <a:sym typeface="Times New Roman" panose="02020603050405020304"/>
              </a:rPr>
              <a:t>7th</a:t>
            </a:r>
            <a:r>
              <a:rPr lang="en-US" sz="3600" b="1" dirty="0">
                <a:latin typeface="Times New Roman" panose="02020603050405020304"/>
                <a:ea typeface="Times New Roman" panose="02020603050405020304"/>
                <a:cs typeface="Times New Roman" panose="02020603050405020304"/>
                <a:sym typeface="Times New Roman" panose="02020603050405020304"/>
              </a:rPr>
              <a:t> Semester</a:t>
            </a:r>
            <a:endParaRPr sz="4400" dirty="0"/>
          </a:p>
        </p:txBody>
      </p:sp>
      <p:sp>
        <p:nvSpPr>
          <p:cNvPr id="2" name="Google Shape;101;p1"/>
          <p:cNvSpPr txBox="1"/>
          <p:nvPr/>
        </p:nvSpPr>
        <p:spPr>
          <a:xfrm>
            <a:off x="620486" y="3580901"/>
            <a:ext cx="7565571" cy="1405392"/>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ctr"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ctr"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indent="0" algn="just">
              <a:spcBef>
                <a:spcPts val="0"/>
              </a:spcBef>
            </a:pPr>
            <a:endParaRPr lang="en-GB"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spcBef>
                <a:spcPts val="0"/>
              </a:spcBef>
            </a:pPr>
            <a:r>
              <a:rPr lang="en-GB"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Inernship</a:t>
            </a:r>
            <a:r>
              <a:rPr 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 Title</a:t>
            </a:r>
            <a:r>
              <a:rPr lang="en-IN"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 </a:t>
            </a:r>
            <a:r>
              <a:rPr 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a:t>
            </a:r>
            <a:r>
              <a:rPr lang="en-IN"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 Data Analytics Internship</a:t>
            </a:r>
          </a:p>
          <a:p>
            <a:pPr marL="0" indent="0" algn="just">
              <a:spcBef>
                <a:spcPts val="0"/>
              </a:spcBef>
            </a:pPr>
            <a:r>
              <a:rPr lang="en-IN"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Organization Name - </a:t>
            </a:r>
            <a:r>
              <a:rPr lang="en-IN" altLang="en-US" b="1" dirty="0" err="1">
                <a:solidFill>
                  <a:srgbClr val="9E0F00"/>
                </a:solidFill>
                <a:latin typeface="Times New Roman" panose="02020603050405020304"/>
                <a:ea typeface="Times New Roman" panose="02020603050405020304"/>
                <a:cs typeface="Times New Roman" panose="02020603050405020304"/>
                <a:sym typeface="Times New Roman" panose="02020603050405020304"/>
              </a:rPr>
              <a:t>Agribussiness</a:t>
            </a:r>
            <a:r>
              <a:rPr lang="en-IN" alt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rPr>
              <a:t> Data Analysis and Virtualization</a:t>
            </a:r>
          </a:p>
        </p:txBody>
      </p:sp>
      <p:sp>
        <p:nvSpPr>
          <p:cNvPr id="3" name="Google Shape;101;p1"/>
          <p:cNvSpPr txBox="1"/>
          <p:nvPr/>
        </p:nvSpPr>
        <p:spPr>
          <a:xfrm>
            <a:off x="3853543" y="453794"/>
            <a:ext cx="3931920" cy="94513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ctr"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ctr"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indent="0">
              <a:spcBef>
                <a:spcPts val="0"/>
              </a:spcBef>
            </a:pPr>
            <a:endParaRPr lang="en-US" b="1" dirty="0">
              <a:solidFill>
                <a:srgbClr val="9E0F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Google Shape;101;p1"/>
          <p:cNvSpPr txBox="1"/>
          <p:nvPr/>
        </p:nvSpPr>
        <p:spPr>
          <a:xfrm>
            <a:off x="7508875" y="5095875"/>
            <a:ext cx="3754120" cy="1001395"/>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ctr"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ctr"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ctr" rtl="0">
              <a:lnSpc>
                <a:spcPct val="90000"/>
              </a:lnSpc>
              <a:spcBef>
                <a:spcPts val="500"/>
              </a:spcBef>
              <a:spcAft>
                <a:spcPts val="0"/>
              </a:spcAft>
              <a:buClr>
                <a:schemeClr val="dk1"/>
              </a:buClr>
              <a:buSzPts val="1600"/>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indent="0" algn="l">
              <a:spcBef>
                <a:spcPts val="0"/>
              </a:spcBef>
            </a:pPr>
            <a:r>
              <a:rPr lang="en-IN" alt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rPr>
              <a:t>Name </a:t>
            </a:r>
            <a:r>
              <a:rPr 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rPr>
              <a:t>–</a:t>
            </a:r>
            <a:r>
              <a:rPr lang="en-IN" alt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rPr>
              <a:t> Prachi Singh</a:t>
            </a:r>
          </a:p>
          <a:p>
            <a:pPr marL="0" indent="0" algn="l">
              <a:spcBef>
                <a:spcPts val="0"/>
              </a:spcBef>
            </a:pPr>
            <a:r>
              <a:rPr lang="en-IN" alt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rPr>
              <a:t>Roll no. - CS-23411219</a:t>
            </a:r>
          </a:p>
          <a:p>
            <a:pPr marL="0" indent="0" algn="l">
              <a:spcBef>
                <a:spcPts val="0"/>
              </a:spcBef>
            </a:pPr>
            <a:r>
              <a:rPr lang="en-IN" alt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rPr>
              <a:t>Section - 4CSE13</a:t>
            </a:r>
          </a:p>
          <a:p>
            <a:pPr marL="0" indent="0" algn="l">
              <a:spcBef>
                <a:spcPts val="0"/>
              </a:spcBef>
            </a:pPr>
            <a:endParaRPr lang="en-IN" altLang="en-US" b="1" dirty="0">
              <a:solidFill>
                <a:schemeClr val="bg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marL="228600" lvl="0" indent="-228600" algn="just">
              <a:buClr>
                <a:srgbClr val="585858"/>
              </a:buClr>
              <a:buSzPts val="3200"/>
              <a:buChar char="•"/>
            </a:pPr>
            <a:r>
              <a:rPr lang="en-US" dirty="0">
                <a:solidFill>
                  <a:srgbClr val="585858"/>
                </a:solidFill>
                <a:latin typeface="Corbel" panose="020B0503020204020204"/>
                <a:ea typeface="Corbel" panose="020B0503020204020204"/>
                <a:cs typeface="Corbel" panose="020B0503020204020204"/>
                <a:sym typeface="Corbel" panose="020B0503020204020204"/>
              </a:rPr>
              <a:t>Outlook of Presentation</a:t>
            </a:r>
            <a:endParaRPr lang="en-US" dirty="0"/>
          </a:p>
        </p:txBody>
      </p:sp>
      <p:sp>
        <p:nvSpPr>
          <p:cNvPr id="108" name="Google Shape;108;p2"/>
          <p:cNvSpPr txBox="1">
            <a:spLocks noGrp="1"/>
          </p:cNvSpPr>
          <p:nvPr>
            <p:ph type="body" idx="1"/>
          </p:nvPr>
        </p:nvSpPr>
        <p:spPr>
          <a:xfrm>
            <a:off x="836426" y="1753386"/>
            <a:ext cx="10810744" cy="4602964"/>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585858"/>
              </a:buClr>
              <a:buSzPts val="3200"/>
              <a:buChar char="•"/>
            </a:pPr>
            <a:endParaRPr lang="en-US" dirty="0"/>
          </a:p>
          <a:p>
            <a:pPr marL="228600" lvl="0" indent="-228600" algn="just" rtl="0">
              <a:lnSpc>
                <a:spcPct val="90000"/>
              </a:lnSpc>
              <a:spcBef>
                <a:spcPts val="0"/>
              </a:spcBef>
              <a:spcAft>
                <a:spcPts val="0"/>
              </a:spcAft>
              <a:buClr>
                <a:srgbClr val="585858"/>
              </a:buClr>
              <a:buSzPts val="3200"/>
              <a:buChar char="•"/>
            </a:pPr>
            <a:endParaRPr lang="en-US" dirty="0"/>
          </a:p>
          <a:p>
            <a:pPr marL="228600" lvl="0" indent="-228600" algn="just" rtl="0">
              <a:lnSpc>
                <a:spcPct val="90000"/>
              </a:lnSpc>
              <a:spcBef>
                <a:spcPts val="0"/>
              </a:spcBef>
              <a:spcAft>
                <a:spcPts val="0"/>
              </a:spcAft>
              <a:buClr>
                <a:srgbClr val="585858"/>
              </a:buClr>
              <a:buSzPts val="3200"/>
              <a:buChar char="•"/>
            </a:pPr>
            <a:r>
              <a:rPr lang="en-US" i="1" dirty="0"/>
              <a:t>Abstract</a:t>
            </a:r>
          </a:p>
          <a:p>
            <a:pPr marL="228600" lvl="0" indent="-228600" algn="just" rtl="0">
              <a:lnSpc>
                <a:spcPct val="90000"/>
              </a:lnSpc>
              <a:spcBef>
                <a:spcPts val="0"/>
              </a:spcBef>
              <a:spcAft>
                <a:spcPts val="0"/>
              </a:spcAft>
              <a:buClr>
                <a:srgbClr val="585858"/>
              </a:buClr>
              <a:buSzPts val="3200"/>
              <a:buChar char="•"/>
            </a:pPr>
            <a:r>
              <a:rPr lang="en-US" i="1" dirty="0"/>
              <a:t>Introduction</a:t>
            </a:r>
          </a:p>
          <a:p>
            <a:pPr marL="228600" lvl="0" indent="-228600" algn="just" rtl="0">
              <a:lnSpc>
                <a:spcPct val="90000"/>
              </a:lnSpc>
              <a:spcBef>
                <a:spcPts val="0"/>
              </a:spcBef>
              <a:spcAft>
                <a:spcPts val="0"/>
              </a:spcAft>
              <a:buClr>
                <a:srgbClr val="585858"/>
              </a:buClr>
              <a:buSzPts val="3200"/>
              <a:buChar char="•"/>
            </a:pPr>
            <a:r>
              <a:rPr lang="en-US" i="1" dirty="0"/>
              <a:t>Literature</a:t>
            </a:r>
            <a:r>
              <a:rPr lang="en-GB" altLang="en-US" i="1" dirty="0"/>
              <a:t> Review</a:t>
            </a:r>
            <a:endParaRPr lang="en-US" i="1" dirty="0"/>
          </a:p>
          <a:p>
            <a:pPr marL="228600" lvl="0" indent="-228600" algn="just" rtl="0">
              <a:lnSpc>
                <a:spcPct val="90000"/>
              </a:lnSpc>
              <a:spcBef>
                <a:spcPts val="0"/>
              </a:spcBef>
              <a:spcAft>
                <a:spcPts val="0"/>
              </a:spcAft>
              <a:buClr>
                <a:srgbClr val="585858"/>
              </a:buClr>
              <a:buSzPts val="3200"/>
              <a:buChar char="•"/>
            </a:pPr>
            <a:r>
              <a:rPr lang="en-US" i="1" dirty="0"/>
              <a:t>Implementation</a:t>
            </a:r>
          </a:p>
          <a:p>
            <a:pPr marL="228600" lvl="0" indent="-228600" algn="just" rtl="0">
              <a:lnSpc>
                <a:spcPct val="90000"/>
              </a:lnSpc>
              <a:spcBef>
                <a:spcPts val="0"/>
              </a:spcBef>
              <a:spcAft>
                <a:spcPts val="0"/>
              </a:spcAft>
              <a:buClr>
                <a:srgbClr val="585858"/>
              </a:buClr>
              <a:buSzPts val="3200"/>
              <a:buChar char="•"/>
            </a:pPr>
            <a:r>
              <a:rPr lang="en-US" i="1" dirty="0"/>
              <a:t>Results</a:t>
            </a:r>
          </a:p>
          <a:p>
            <a:pPr marL="228600" lvl="0" indent="-228600" algn="just" rtl="0">
              <a:lnSpc>
                <a:spcPct val="90000"/>
              </a:lnSpc>
              <a:spcBef>
                <a:spcPts val="0"/>
              </a:spcBef>
              <a:spcAft>
                <a:spcPts val="0"/>
              </a:spcAft>
              <a:buClr>
                <a:srgbClr val="585858"/>
              </a:buClr>
              <a:buSzPts val="3200"/>
              <a:buChar char="•"/>
            </a:pPr>
            <a:r>
              <a:rPr lang="en-US" i="1" dirty="0"/>
              <a:t>Conclusion</a:t>
            </a:r>
          </a:p>
          <a:p>
            <a:pPr marL="0" lvl="0" indent="0" algn="just" rtl="0">
              <a:lnSpc>
                <a:spcPct val="90000"/>
              </a:lnSpc>
              <a:spcBef>
                <a:spcPts val="0"/>
              </a:spcBef>
              <a:spcAft>
                <a:spcPts val="0"/>
              </a:spcAft>
              <a:buClr>
                <a:srgbClr val="585858"/>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Abstract</a:t>
            </a:r>
          </a:p>
        </p:txBody>
      </p:sp>
      <p:sp>
        <p:nvSpPr>
          <p:cNvPr id="3" name="Text Placeholder 2"/>
          <p:cNvSpPr>
            <a:spLocks noGrp="1"/>
          </p:cNvSpPr>
          <p:nvPr>
            <p:ph type="body" idx="1"/>
          </p:nvPr>
        </p:nvSpPr>
        <p:spPr>
          <a:xfrm>
            <a:off x="836295" y="2258060"/>
            <a:ext cx="10914380" cy="3610610"/>
          </a:xfrm>
        </p:spPr>
        <p:txBody>
          <a:bodyPr>
            <a:noAutofit/>
          </a:bodyPr>
          <a:lstStyle/>
          <a:p>
            <a:pPr marL="114300" indent="0" algn="just">
              <a:buNone/>
            </a:pPr>
            <a:r>
              <a:rPr lang="en-IN" sz="2000" i="1" dirty="0">
                <a:latin typeface="Times New Roman" panose="02020603050405020304" pitchFamily="18" charset="0"/>
                <a:cs typeface="Times New Roman" panose="02020603050405020304" pitchFamily="18" charset="0"/>
              </a:rPr>
              <a:t>This project presents an end-to-end </a:t>
            </a:r>
            <a:r>
              <a:rPr lang="en-IN" sz="2000" b="1" i="1" dirty="0">
                <a:latin typeface="Times New Roman" panose="02020603050405020304" pitchFamily="18" charset="0"/>
                <a:cs typeface="Times New Roman" panose="02020603050405020304" pitchFamily="18" charset="0"/>
              </a:rPr>
              <a:t>Agribusiness Data Analysis and Visualization</a:t>
            </a:r>
            <a:r>
              <a:rPr lang="en-IN" sz="2000" i="1" dirty="0">
                <a:latin typeface="Times New Roman" panose="02020603050405020304" pitchFamily="18" charset="0"/>
                <a:cs typeface="Times New Roman" panose="02020603050405020304" pitchFamily="18" charset="0"/>
              </a:rPr>
              <a:t> pipeline developed during a four-week Data Analyst virtual internship with Codec Technologies. The project focuses on transforming publicly available agribusiness data related to crop production, weather conditions, and commodity prices into meaningful and decision-ready insights. The workflow includes data collection and cleaning, visualization and reporting, predictive analysis and trend forecasting, and KPI-based performance evaluation. Python and Google </a:t>
            </a:r>
            <a:r>
              <a:rPr lang="en-IN" sz="2000" i="1" dirty="0" err="1">
                <a:latin typeface="Times New Roman" panose="02020603050405020304" pitchFamily="18" charset="0"/>
                <a:cs typeface="Times New Roman" panose="02020603050405020304" pitchFamily="18" charset="0"/>
              </a:rPr>
              <a:t>Colab</a:t>
            </a:r>
            <a:r>
              <a:rPr lang="en-IN" sz="2000" i="1" dirty="0">
                <a:latin typeface="Times New Roman" panose="02020603050405020304" pitchFamily="18" charset="0"/>
                <a:cs typeface="Times New Roman" panose="02020603050405020304" pitchFamily="18" charset="0"/>
              </a:rPr>
              <a:t> were used to implement and demonstrate the analytics pipeline, while forecasting approaches such as Linear Regression, Random Forest Regression, ARIMA, and Holt-Winters were considered. The project also evaluates key performance indicators including yield per hectare, cost per ton, gross profit margin, water use efficiency, and price risk coverage. The resulting analysis provides a structured approach for understanding agribusiness performance and developing strategic recommendations based on data-driven findings.</a:t>
            </a:r>
            <a:endParaRPr lang="en-US" altLang="en-US" sz="20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Introduction</a:t>
            </a:r>
          </a:p>
        </p:txBody>
      </p:sp>
      <p:sp>
        <p:nvSpPr>
          <p:cNvPr id="3" name="Text Placeholder 2"/>
          <p:cNvSpPr>
            <a:spLocks noGrp="1"/>
          </p:cNvSpPr>
          <p:nvPr>
            <p:ph type="body" idx="1"/>
          </p:nvPr>
        </p:nvSpPr>
        <p:spPr>
          <a:xfrm>
            <a:off x="836295" y="2135505"/>
            <a:ext cx="10914380" cy="4220845"/>
          </a:xfrm>
        </p:spPr>
        <p:txBody>
          <a:bodyPr/>
          <a:lstStyle/>
          <a:p>
            <a:pPr algn="just"/>
            <a:r>
              <a:rPr lang="en-IN" sz="2000" i="1" dirty="0">
                <a:latin typeface="Times New Roman" panose="02020603050405020304" pitchFamily="18" charset="0"/>
                <a:cs typeface="Times New Roman" panose="02020603050405020304" pitchFamily="18" charset="0"/>
              </a:rPr>
              <a:t>Agribusiness decision-making depends on reliable information related to production, weather and market conditions.</a:t>
            </a:r>
          </a:p>
          <a:p>
            <a:pPr algn="just"/>
            <a:r>
              <a:rPr lang="en-IN" sz="2000" i="1" dirty="0">
                <a:latin typeface="Times New Roman" panose="02020603050405020304" pitchFamily="18" charset="0"/>
                <a:cs typeface="Times New Roman" panose="02020603050405020304" pitchFamily="18" charset="0"/>
              </a:rPr>
              <a:t>Public agricultural data is available from multiple sources but is often fragmented and inconsistently formatted.</a:t>
            </a:r>
          </a:p>
          <a:p>
            <a:pPr algn="just"/>
            <a:r>
              <a:rPr lang="en-IN" sz="2000" i="1" dirty="0">
                <a:latin typeface="Times New Roman" panose="02020603050405020304" pitchFamily="18" charset="0"/>
                <a:cs typeface="Times New Roman" panose="02020603050405020304" pitchFamily="18" charset="0"/>
              </a:rPr>
              <a:t>The project provides a structured workflow for transforming this raw information into decision-ready insights.</a:t>
            </a:r>
          </a:p>
          <a:p>
            <a:pPr algn="just"/>
            <a:r>
              <a:rPr lang="en-IN" sz="2000" i="1" dirty="0">
                <a:latin typeface="Times New Roman" panose="02020603050405020304" pitchFamily="18" charset="0"/>
                <a:cs typeface="Times New Roman" panose="02020603050405020304" pitchFamily="18" charset="0"/>
              </a:rPr>
              <a:t>The internship was completed over </a:t>
            </a:r>
            <a:r>
              <a:rPr lang="en-IN" sz="2000" b="1" i="1" dirty="0">
                <a:latin typeface="Times New Roman" panose="02020603050405020304" pitchFamily="18" charset="0"/>
                <a:cs typeface="Times New Roman" panose="02020603050405020304" pitchFamily="18" charset="0"/>
              </a:rPr>
              <a:t>four weeks</a:t>
            </a:r>
            <a:r>
              <a:rPr lang="en-IN" sz="2000" i="1" dirty="0">
                <a:latin typeface="Times New Roman" panose="02020603050405020304" pitchFamily="18" charset="0"/>
                <a:cs typeface="Times New Roman" panose="02020603050405020304" pitchFamily="18" charset="0"/>
              </a:rPr>
              <a:t>, with each week building upon the previous stage:</a:t>
            </a:r>
          </a:p>
          <a:p>
            <a:pPr lvl="0" algn="just"/>
            <a:r>
              <a:rPr lang="en-IN" sz="2000" i="1" dirty="0">
                <a:latin typeface="Times New Roman" panose="02020603050405020304" pitchFamily="18" charset="0"/>
                <a:cs typeface="Times New Roman" panose="02020603050405020304" pitchFamily="18" charset="0"/>
              </a:rPr>
              <a:t>Week 1: Data Collection &amp; Cleaning </a:t>
            </a:r>
          </a:p>
          <a:p>
            <a:pPr lvl="0" algn="just"/>
            <a:r>
              <a:rPr lang="en-IN" sz="2000" i="1" dirty="0">
                <a:latin typeface="Times New Roman" panose="02020603050405020304" pitchFamily="18" charset="0"/>
                <a:cs typeface="Times New Roman" panose="02020603050405020304" pitchFamily="18" charset="0"/>
              </a:rPr>
              <a:t>Week 2: Visualization &amp; Reporting </a:t>
            </a:r>
          </a:p>
          <a:p>
            <a:pPr lvl="0" algn="just"/>
            <a:r>
              <a:rPr lang="en-IN" sz="2000" i="1" dirty="0">
                <a:latin typeface="Times New Roman" panose="02020603050405020304" pitchFamily="18" charset="0"/>
                <a:cs typeface="Times New Roman" panose="02020603050405020304" pitchFamily="18" charset="0"/>
              </a:rPr>
              <a:t>Week 3: Forecasting </a:t>
            </a:r>
          </a:p>
          <a:p>
            <a:pPr lvl="0" algn="just"/>
            <a:r>
              <a:rPr lang="en-IN" sz="2000" i="1" dirty="0">
                <a:latin typeface="Times New Roman" panose="02020603050405020304" pitchFamily="18" charset="0"/>
                <a:cs typeface="Times New Roman" panose="02020603050405020304" pitchFamily="18" charset="0"/>
              </a:rPr>
              <a:t>Week 4: KPI Evaluation &amp; Recommendations </a:t>
            </a:r>
          </a:p>
          <a:p>
            <a:endParaRPr lang="en-US"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Literature Review</a:t>
            </a:r>
          </a:p>
        </p:txBody>
      </p:sp>
      <p:sp>
        <p:nvSpPr>
          <p:cNvPr id="3" name="Text Placeholder 2"/>
          <p:cNvSpPr>
            <a:spLocks noGrp="1"/>
          </p:cNvSpPr>
          <p:nvPr>
            <p:ph type="body" idx="1"/>
          </p:nvPr>
        </p:nvSpPr>
        <p:spPr>
          <a:xfrm>
            <a:off x="836295" y="2258060"/>
            <a:ext cx="10914380" cy="4098290"/>
          </a:xfrm>
        </p:spPr>
        <p:txBody>
          <a:bodyPr>
            <a:normAutofit lnSpcReduction="10000"/>
          </a:bodyPr>
          <a:lstStyle/>
          <a:p>
            <a:pPr algn="just"/>
            <a:r>
              <a:rPr lang="en-IN" sz="2000" b="1" i="1" dirty="0">
                <a:latin typeface="Times New Roman" panose="02020603050405020304" pitchFamily="18" charset="0"/>
                <a:cs typeface="Times New Roman" panose="02020603050405020304" pitchFamily="18" charset="0"/>
              </a:rPr>
              <a:t>Time-Series Forecasting:</a:t>
            </a:r>
            <a:r>
              <a:rPr lang="en-IN" sz="2000" i="1" dirty="0">
                <a:latin typeface="Times New Roman" panose="02020603050405020304" pitchFamily="18" charset="0"/>
                <a:cs typeface="Times New Roman" panose="02020603050405020304" pitchFamily="18" charset="0"/>
              </a:rPr>
              <a:t> ARIMA and Holt-Winters Exponential Smoothing are established approaches for identifying historical and seasonal patterns.</a:t>
            </a:r>
          </a:p>
          <a:p>
            <a:pPr algn="just"/>
            <a:r>
              <a:rPr lang="en-IN" sz="2000" b="1" i="1" dirty="0">
                <a:latin typeface="Times New Roman" panose="02020603050405020304" pitchFamily="18" charset="0"/>
                <a:cs typeface="Times New Roman" panose="02020603050405020304" pitchFamily="18" charset="0"/>
              </a:rPr>
              <a:t>Machine Learning:</a:t>
            </a:r>
            <a:r>
              <a:rPr lang="en-IN" sz="2000" i="1" dirty="0">
                <a:latin typeface="Times New Roman" panose="02020603050405020304" pitchFamily="18" charset="0"/>
                <a:cs typeface="Times New Roman" panose="02020603050405020304" pitchFamily="18" charset="0"/>
              </a:rPr>
              <a:t> Linear Regression and Random Forest Regression are considered for forecasting using external factors such as weather and market conditions.</a:t>
            </a:r>
          </a:p>
          <a:p>
            <a:pPr algn="just"/>
            <a:r>
              <a:rPr lang="en-IN" sz="2000" b="1" i="1" dirty="0">
                <a:latin typeface="Times New Roman" panose="02020603050405020304" pitchFamily="18" charset="0"/>
                <a:cs typeface="Times New Roman" panose="02020603050405020304" pitchFamily="18" charset="0"/>
              </a:rPr>
              <a:t>Walk-Forward Validation:</a:t>
            </a:r>
            <a:r>
              <a:rPr lang="en-IN" sz="2000" i="1" dirty="0">
                <a:latin typeface="Times New Roman" panose="02020603050405020304" pitchFamily="18" charset="0"/>
                <a:cs typeface="Times New Roman" panose="02020603050405020304" pitchFamily="18" charset="0"/>
              </a:rPr>
              <a:t> Used because agribusiness data has a time-series structure and future observations should be evaluated using only past data.</a:t>
            </a:r>
          </a:p>
          <a:p>
            <a:pPr algn="just"/>
            <a:r>
              <a:rPr lang="en-IN" sz="2000" b="1" i="1" dirty="0">
                <a:latin typeface="Times New Roman" panose="02020603050405020304" pitchFamily="18" charset="0"/>
                <a:cs typeface="Times New Roman" panose="02020603050405020304" pitchFamily="18" charset="0"/>
              </a:rPr>
              <a:t>Performance Metrics:</a:t>
            </a:r>
            <a:r>
              <a:rPr lang="en-IN" sz="2000" i="1" dirty="0">
                <a:latin typeface="Times New Roman" panose="02020603050405020304" pitchFamily="18" charset="0"/>
                <a:cs typeface="Times New Roman" panose="02020603050405020304" pitchFamily="18" charset="0"/>
              </a:rPr>
              <a:t> MAE, RMSE, MAPE and R² are used to evaluate forecasting performance. </a:t>
            </a:r>
          </a:p>
          <a:p>
            <a:pPr algn="just"/>
            <a:r>
              <a:rPr lang="en-IN" sz="2000" b="1" i="1" dirty="0">
                <a:latin typeface="Times New Roman" panose="02020603050405020304" pitchFamily="18" charset="0"/>
                <a:cs typeface="Times New Roman" panose="02020603050405020304" pitchFamily="18" charset="0"/>
              </a:rPr>
              <a:t>Random Forest:</a:t>
            </a:r>
            <a:r>
              <a:rPr lang="en-IN" sz="2000" i="1" dirty="0">
                <a:latin typeface="Times New Roman" panose="02020603050405020304" pitchFamily="18" charset="0"/>
                <a:cs typeface="Times New Roman" panose="02020603050405020304" pitchFamily="18" charset="0"/>
              </a:rPr>
              <a:t> The project is supported by </a:t>
            </a:r>
            <a:r>
              <a:rPr lang="en-IN" sz="2000" i="1" dirty="0" err="1">
                <a:latin typeface="Times New Roman" panose="02020603050405020304" pitchFamily="18" charset="0"/>
                <a:cs typeface="Times New Roman" panose="02020603050405020304" pitchFamily="18" charset="0"/>
              </a:rPr>
              <a:t>Breiman’s</a:t>
            </a:r>
            <a:r>
              <a:rPr lang="en-IN" sz="2000" i="1" dirty="0">
                <a:latin typeface="Times New Roman" panose="02020603050405020304" pitchFamily="18" charset="0"/>
                <a:cs typeface="Times New Roman" panose="02020603050405020304" pitchFamily="18" charset="0"/>
              </a:rPr>
              <a:t> established work on Random Forests.</a:t>
            </a:r>
          </a:p>
          <a:p>
            <a:pPr algn="just"/>
            <a:r>
              <a:rPr lang="en-IN" sz="2000" b="1" i="1" dirty="0">
                <a:latin typeface="Times New Roman" panose="02020603050405020304" pitchFamily="18" charset="0"/>
                <a:cs typeface="Times New Roman" panose="02020603050405020304" pitchFamily="18" charset="0"/>
              </a:rPr>
              <a:t>Forecasting Methods:</a:t>
            </a:r>
            <a:r>
              <a:rPr lang="en-IN" sz="2000" i="1" dirty="0">
                <a:latin typeface="Times New Roman" panose="02020603050405020304" pitchFamily="18" charset="0"/>
                <a:cs typeface="Times New Roman" panose="02020603050405020304" pitchFamily="18" charset="0"/>
              </a:rPr>
              <a:t> The methodology follows concepts discussed in Forecasting: Principles and Practice by Hyndman and Athanasopoulos.</a:t>
            </a:r>
          </a:p>
          <a:p>
            <a:pPr algn="just"/>
            <a:r>
              <a:rPr lang="en-IN" sz="2000" b="1" i="1" dirty="0">
                <a:latin typeface="Times New Roman" panose="02020603050405020304" pitchFamily="18" charset="0"/>
                <a:cs typeface="Times New Roman" panose="02020603050405020304" pitchFamily="18" charset="0"/>
              </a:rPr>
              <a:t>Agribusiness Application:</a:t>
            </a:r>
            <a:r>
              <a:rPr lang="en-IN" sz="2000" i="1" dirty="0">
                <a:latin typeface="Times New Roman" panose="02020603050405020304" pitchFamily="18" charset="0"/>
                <a:cs typeface="Times New Roman" panose="02020603050405020304" pitchFamily="18" charset="0"/>
              </a:rPr>
              <a:t> These methods provide the foundation for forecasting crop yield and commodity-price trends and supporting data-driven decisions</a:t>
            </a:r>
            <a:r>
              <a:rPr lang="en-IN" sz="1600" dirty="0"/>
              <a:t>.</a:t>
            </a:r>
            <a:endParaRPr lang="en-US"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Implementation</a:t>
            </a:r>
          </a:p>
        </p:txBody>
      </p:sp>
      <p:sp>
        <p:nvSpPr>
          <p:cNvPr id="3" name="Text Placeholder 2"/>
          <p:cNvSpPr>
            <a:spLocks noGrp="1"/>
          </p:cNvSpPr>
          <p:nvPr>
            <p:ph type="body" idx="1"/>
          </p:nvPr>
        </p:nvSpPr>
        <p:spPr>
          <a:xfrm>
            <a:off x="836295" y="1959429"/>
            <a:ext cx="10680791" cy="4539342"/>
          </a:xfrm>
        </p:spPr>
        <p:txBody>
          <a:bodyPr>
            <a:noAutofit/>
          </a:bodyPr>
          <a:lstStyle/>
          <a:p>
            <a:pPr lvl="0" algn="just"/>
            <a:r>
              <a:rPr lang="en-IN" sz="2000" b="1" i="1" dirty="0">
                <a:latin typeface="Times New Roman" panose="02020603050405020304" pitchFamily="18" charset="0"/>
                <a:cs typeface="Times New Roman" panose="02020603050405020304" pitchFamily="18" charset="0"/>
              </a:rPr>
              <a:t>Data Collection:</a:t>
            </a:r>
            <a:r>
              <a:rPr lang="en-IN" sz="2000" i="1" dirty="0">
                <a:latin typeface="Times New Roman" panose="02020603050405020304" pitchFamily="18" charset="0"/>
                <a:cs typeface="Times New Roman" panose="02020603050405020304" pitchFamily="18" charset="0"/>
              </a:rPr>
              <a:t> Public agribusiness data was collected from USDA NASS, FAOSTAT, NOAA Climate Data Online, and World Bank commodity-market sources. </a:t>
            </a:r>
          </a:p>
          <a:p>
            <a:pPr lvl="0" algn="just"/>
            <a:r>
              <a:rPr lang="en-IN" sz="2000" b="1" i="1" dirty="0">
                <a:latin typeface="Times New Roman" panose="02020603050405020304" pitchFamily="18" charset="0"/>
                <a:cs typeface="Times New Roman" panose="02020603050405020304" pitchFamily="18" charset="0"/>
              </a:rPr>
              <a:t>Data Exploration:</a:t>
            </a:r>
            <a:r>
              <a:rPr lang="en-IN" sz="2000" i="1" dirty="0">
                <a:latin typeface="Times New Roman" panose="02020603050405020304" pitchFamily="18" charset="0"/>
                <a:cs typeface="Times New Roman" panose="02020603050405020304" pitchFamily="18" charset="0"/>
              </a:rPr>
              <a:t> Missing values, summary statistics, distributions, and consistency of geographic and year fields were examined. </a:t>
            </a:r>
          </a:p>
          <a:p>
            <a:pPr lvl="0" algn="just"/>
            <a:r>
              <a:rPr lang="en-IN" sz="2000" b="1" i="1" dirty="0">
                <a:latin typeface="Times New Roman" panose="02020603050405020304" pitchFamily="18" charset="0"/>
                <a:cs typeface="Times New Roman" panose="02020603050405020304" pitchFamily="18" charset="0"/>
              </a:rPr>
              <a:t>Data Cleaning:</a:t>
            </a:r>
            <a:r>
              <a:rPr lang="en-IN" sz="2000" i="1" dirty="0">
                <a:latin typeface="Times New Roman" panose="02020603050405020304" pitchFamily="18" charset="0"/>
                <a:cs typeface="Times New Roman" panose="02020603050405020304" pitchFamily="18" charset="0"/>
              </a:rPr>
              <a:t> Missing values were handled, units and currencies were standardized, duplicate records were removed, and inconsistent category labels were normalized. </a:t>
            </a:r>
          </a:p>
          <a:p>
            <a:pPr lvl="0" algn="just"/>
            <a:r>
              <a:rPr lang="en-IN" sz="2000" b="1" i="1" dirty="0">
                <a:latin typeface="Times New Roman" panose="02020603050405020304" pitchFamily="18" charset="0"/>
                <a:cs typeface="Times New Roman" panose="02020603050405020304" pitchFamily="18" charset="0"/>
              </a:rPr>
              <a:t>Data Visualization:</a:t>
            </a:r>
            <a:r>
              <a:rPr lang="en-IN" sz="2000" i="1" dirty="0">
                <a:latin typeface="Times New Roman" panose="02020603050405020304" pitchFamily="18" charset="0"/>
                <a:cs typeface="Times New Roman" panose="02020603050405020304" pitchFamily="18" charset="0"/>
              </a:rPr>
              <a:t> Production, price trends, price volatility, regional comparisons, and weather–yield relationships were visualized using charts. </a:t>
            </a:r>
          </a:p>
          <a:p>
            <a:pPr lvl="0" algn="just"/>
            <a:r>
              <a:rPr lang="en-IN" sz="2000" b="1" i="1" dirty="0">
                <a:latin typeface="Times New Roman" panose="02020603050405020304" pitchFamily="18" charset="0"/>
                <a:cs typeface="Times New Roman" panose="02020603050405020304" pitchFamily="18" charset="0"/>
              </a:rPr>
              <a:t>Predictive Analysis:</a:t>
            </a:r>
            <a:r>
              <a:rPr lang="en-IN" sz="2000" i="1" dirty="0">
                <a:latin typeface="Times New Roman" panose="02020603050405020304" pitchFamily="18" charset="0"/>
                <a:cs typeface="Times New Roman" panose="02020603050405020304" pitchFamily="18" charset="0"/>
              </a:rPr>
              <a:t> ARIMA, Holt-Winters, Linear Regression, and Random Forest Regression were considered for forecasting. </a:t>
            </a:r>
          </a:p>
          <a:p>
            <a:pPr lvl="0" algn="just"/>
            <a:r>
              <a:rPr lang="en-IN" sz="2000" b="1" i="1" dirty="0">
                <a:latin typeface="Times New Roman" panose="02020603050405020304" pitchFamily="18" charset="0"/>
                <a:cs typeface="Times New Roman" panose="02020603050405020304" pitchFamily="18" charset="0"/>
              </a:rPr>
              <a:t>Performance Evaluation:</a:t>
            </a:r>
            <a:r>
              <a:rPr lang="en-IN" sz="2000" i="1" dirty="0">
                <a:latin typeface="Times New Roman" panose="02020603050405020304" pitchFamily="18" charset="0"/>
                <a:cs typeface="Times New Roman" panose="02020603050405020304" pitchFamily="18" charset="0"/>
              </a:rPr>
              <a:t> Forecasts were evaluated using MAE, RMSE, MAPE, and R². </a:t>
            </a:r>
          </a:p>
          <a:p>
            <a:pPr lvl="0" algn="just"/>
            <a:r>
              <a:rPr lang="en-IN" sz="2000" b="1" i="1" dirty="0">
                <a:latin typeface="Times New Roman" panose="02020603050405020304" pitchFamily="18" charset="0"/>
                <a:cs typeface="Times New Roman" panose="02020603050405020304" pitchFamily="18" charset="0"/>
              </a:rPr>
              <a:t>KPI Evaluation:</a:t>
            </a:r>
            <a:r>
              <a:rPr lang="en-IN" sz="2000" i="1" dirty="0">
                <a:latin typeface="Times New Roman" panose="02020603050405020304" pitchFamily="18" charset="0"/>
                <a:cs typeface="Times New Roman" panose="02020603050405020304" pitchFamily="18" charset="0"/>
              </a:rPr>
              <a:t> Five KPIs—Yield per Hectare, Cost per Ton, Gross Profit Margin, Water Use Efficiency, and Price Risk Coverage—were benchmarked</a:t>
            </a:r>
            <a:r>
              <a:rPr lang="en-IN" sz="2000" dirty="0">
                <a:latin typeface="Times New Roman" panose="02020603050405020304" pitchFamily="18" charset="0"/>
                <a:cs typeface="Times New Roman" panose="02020603050405020304" pitchFamily="18" charset="0"/>
              </a:rPr>
              <a:t>. </a:t>
            </a:r>
          </a:p>
          <a:p>
            <a:endParaRPr lang="en-US" alt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0486"/>
            <a:ext cx="8109858" cy="1349828"/>
          </a:xfrm>
        </p:spPr>
        <p:txBody>
          <a:bodyPr/>
          <a:lstStyle/>
          <a:p>
            <a:r>
              <a:rPr lang="en-GB" altLang="en-US" dirty="0"/>
              <a:t>Results</a:t>
            </a:r>
          </a:p>
        </p:txBody>
      </p:sp>
      <p:sp>
        <p:nvSpPr>
          <p:cNvPr id="3" name="Text Placeholder 2"/>
          <p:cNvSpPr>
            <a:spLocks noGrp="1"/>
          </p:cNvSpPr>
          <p:nvPr>
            <p:ph type="body" idx="1"/>
          </p:nvPr>
        </p:nvSpPr>
        <p:spPr>
          <a:xfrm>
            <a:off x="836295" y="1534887"/>
            <a:ext cx="10914380" cy="4951004"/>
          </a:xfrm>
        </p:spPr>
        <p:txBody>
          <a:bodyPr>
            <a:noAutofit/>
          </a:bodyPr>
          <a:lstStyle/>
          <a:p>
            <a:pPr lvl="0" algn="just"/>
            <a:r>
              <a:rPr lang="en-IN" sz="2000" b="1" i="1" dirty="0">
                <a:latin typeface="Times New Roman" panose="02020603050405020304" pitchFamily="18" charset="0"/>
                <a:cs typeface="Times New Roman" panose="02020603050405020304" pitchFamily="18" charset="0"/>
              </a:rPr>
              <a:t>Data Processing:</a:t>
            </a:r>
            <a:r>
              <a:rPr lang="en-IN" sz="2000" i="1" dirty="0">
                <a:latin typeface="Times New Roman" panose="02020603050405020304" pitchFamily="18" charset="0"/>
                <a:cs typeface="Times New Roman" panose="02020603050405020304" pitchFamily="18" charset="0"/>
              </a:rPr>
              <a:t> Public agribusiness data was cleaned, standardized, and prepared for analysis. </a:t>
            </a:r>
          </a:p>
          <a:p>
            <a:pPr lvl="0" algn="just"/>
            <a:r>
              <a:rPr lang="en-IN" sz="2000" b="1" i="1" dirty="0">
                <a:latin typeface="Times New Roman" panose="02020603050405020304" pitchFamily="18" charset="0"/>
                <a:cs typeface="Times New Roman" panose="02020603050405020304" pitchFamily="18" charset="0"/>
              </a:rPr>
              <a:t>Visualization:</a:t>
            </a:r>
            <a:r>
              <a:rPr lang="en-IN" sz="2000" i="1" dirty="0">
                <a:latin typeface="Times New Roman" panose="02020603050405020304" pitchFamily="18" charset="0"/>
                <a:cs typeface="Times New Roman" panose="02020603050405020304" pitchFamily="18" charset="0"/>
              </a:rPr>
              <a:t> Production trends, commodity prices, regional differences, price volatility, and weather–yield relationships were </a:t>
            </a:r>
            <a:r>
              <a:rPr lang="en-IN" sz="2000" i="1" dirty="0" err="1">
                <a:latin typeface="Times New Roman" panose="02020603050405020304" pitchFamily="18" charset="0"/>
                <a:cs typeface="Times New Roman" panose="02020603050405020304" pitchFamily="18" charset="0"/>
              </a:rPr>
              <a:t>analyzed</a:t>
            </a:r>
            <a:r>
              <a:rPr lang="en-IN" sz="2000" i="1" dirty="0">
                <a:latin typeface="Times New Roman" panose="02020603050405020304" pitchFamily="18" charset="0"/>
                <a:cs typeface="Times New Roman" panose="02020603050405020304" pitchFamily="18" charset="0"/>
              </a:rPr>
              <a:t> through visualizations. </a:t>
            </a:r>
          </a:p>
          <a:p>
            <a:pPr lvl="0" algn="just"/>
            <a:r>
              <a:rPr lang="en-IN" sz="2000" b="1" i="1" dirty="0">
                <a:latin typeface="Times New Roman" panose="02020603050405020304" pitchFamily="18" charset="0"/>
                <a:cs typeface="Times New Roman" panose="02020603050405020304" pitchFamily="18" charset="0"/>
              </a:rPr>
              <a:t>Forecasting:</a:t>
            </a:r>
            <a:r>
              <a:rPr lang="en-IN" sz="2000" i="1" dirty="0">
                <a:latin typeface="Times New Roman" panose="02020603050405020304" pitchFamily="18" charset="0"/>
                <a:cs typeface="Times New Roman" panose="02020603050405020304" pitchFamily="18" charset="0"/>
              </a:rPr>
              <a:t> Multiple forecasting approaches were considered, including ARIMA, Holt-Winters, Linear Regression, and Random Forest Regression. </a:t>
            </a:r>
          </a:p>
          <a:p>
            <a:pPr lvl="0" algn="just"/>
            <a:r>
              <a:rPr lang="en-IN" sz="2000" b="1" i="1" dirty="0">
                <a:latin typeface="Times New Roman" panose="02020603050405020304" pitchFamily="18" charset="0"/>
                <a:cs typeface="Times New Roman" panose="02020603050405020304" pitchFamily="18" charset="0"/>
              </a:rPr>
              <a:t>Model Evaluation:</a:t>
            </a:r>
            <a:r>
              <a:rPr lang="en-IN" sz="2000" i="1" dirty="0">
                <a:latin typeface="Times New Roman" panose="02020603050405020304" pitchFamily="18" charset="0"/>
                <a:cs typeface="Times New Roman" panose="02020603050405020304" pitchFamily="18" charset="0"/>
              </a:rPr>
              <a:t> MAE, RMSE, MAPE, and R² were selected as evaluation metrics, with walk-forward validation used for time-series data. </a:t>
            </a:r>
          </a:p>
          <a:p>
            <a:pPr lvl="0" algn="just"/>
            <a:r>
              <a:rPr lang="en-IN" sz="2000" b="1" i="1" dirty="0">
                <a:latin typeface="Times New Roman" panose="02020603050405020304" pitchFamily="18" charset="0"/>
                <a:cs typeface="Times New Roman" panose="02020603050405020304" pitchFamily="18" charset="0"/>
              </a:rPr>
              <a:t>KPI Performance:</a:t>
            </a:r>
            <a:r>
              <a:rPr lang="en-IN" sz="2000" i="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Yield per Hectare</a:t>
            </a:r>
            <a:r>
              <a:rPr lang="en-IN" sz="2000" i="1" dirty="0">
                <a:latin typeface="Times New Roman" panose="02020603050405020304" pitchFamily="18" charset="0"/>
                <a:cs typeface="Times New Roman" panose="02020603050405020304" pitchFamily="18" charset="0"/>
              </a:rPr>
              <a:t> performed above the benchmark. </a:t>
            </a:r>
          </a:p>
          <a:p>
            <a:pPr lvl="0" algn="just"/>
            <a:r>
              <a:rPr lang="en-IN" sz="2000" b="1" i="1" dirty="0">
                <a:latin typeface="Times New Roman" panose="02020603050405020304" pitchFamily="18" charset="0"/>
                <a:cs typeface="Times New Roman" panose="02020603050405020304" pitchFamily="18" charset="0"/>
              </a:rPr>
              <a:t>Performance Gaps:</a:t>
            </a:r>
            <a:r>
              <a:rPr lang="en-IN" sz="2000" i="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Cost per Ton, Gross Profit Margin, Water Use Efficiency, and Price Risk Coverage</a:t>
            </a:r>
            <a:r>
              <a:rPr lang="en-IN" sz="2000" i="1" dirty="0">
                <a:latin typeface="Times New Roman" panose="02020603050405020304" pitchFamily="18" charset="0"/>
                <a:cs typeface="Times New Roman" panose="02020603050405020304" pitchFamily="18" charset="0"/>
              </a:rPr>
              <a:t> showed benchmark shortfalls. </a:t>
            </a:r>
          </a:p>
          <a:p>
            <a:pPr lvl="0" algn="just"/>
            <a:r>
              <a:rPr lang="en-IN" sz="2000" b="1" i="1" dirty="0">
                <a:latin typeface="Times New Roman" panose="02020603050405020304" pitchFamily="18" charset="0"/>
                <a:cs typeface="Times New Roman" panose="02020603050405020304" pitchFamily="18" charset="0"/>
              </a:rPr>
              <a:t>Major Finding:</a:t>
            </a:r>
            <a:r>
              <a:rPr lang="en-IN" sz="2000" i="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Price Risk Coverage</a:t>
            </a:r>
            <a:r>
              <a:rPr lang="en-IN" sz="2000" i="1" dirty="0">
                <a:latin typeface="Times New Roman" panose="02020603050405020304" pitchFamily="18" charset="0"/>
                <a:cs typeface="Times New Roman" panose="02020603050405020304" pitchFamily="18" charset="0"/>
              </a:rPr>
              <a:t> had the largest performance gap and was identified as the highest-priority area for improvement. </a:t>
            </a:r>
          </a:p>
          <a:p>
            <a:pPr lvl="0" algn="just"/>
            <a:r>
              <a:rPr lang="en-IN" sz="2000" b="1" i="1" dirty="0">
                <a:latin typeface="Times New Roman" panose="02020603050405020304" pitchFamily="18" charset="0"/>
                <a:cs typeface="Times New Roman" panose="02020603050405020304" pitchFamily="18" charset="0"/>
              </a:rPr>
              <a:t>Strategic Recommendations:</a:t>
            </a:r>
            <a:r>
              <a:rPr lang="en-IN" sz="2000" i="1" dirty="0">
                <a:latin typeface="Times New Roman" panose="02020603050405020304" pitchFamily="18" charset="0"/>
                <a:cs typeface="Times New Roman" panose="02020603050405020304" pitchFamily="18" charset="0"/>
              </a:rPr>
              <a:t> The project recommended price hedging, input-cost auditing, precision application, soil-moisture monitoring, and continued agronomic investment.</a:t>
            </a:r>
          </a:p>
          <a:p>
            <a:pPr marL="114300" indent="0">
              <a:buNone/>
            </a:pPr>
            <a:endParaRPr lang="en-US"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72143"/>
            <a:ext cx="10914195" cy="1986079"/>
          </a:xfrm>
        </p:spPr>
        <p:txBody>
          <a:bodyPr/>
          <a:lstStyle/>
          <a:p>
            <a:r>
              <a:rPr lang="en-GB" altLang="en-US" dirty="0"/>
              <a:t>Conclusion</a:t>
            </a:r>
          </a:p>
        </p:txBody>
      </p:sp>
      <p:sp>
        <p:nvSpPr>
          <p:cNvPr id="3" name="Text Placeholder 2"/>
          <p:cNvSpPr>
            <a:spLocks noGrp="1"/>
          </p:cNvSpPr>
          <p:nvPr>
            <p:ph type="body" idx="1"/>
          </p:nvPr>
        </p:nvSpPr>
        <p:spPr>
          <a:xfrm>
            <a:off x="638810" y="1654629"/>
            <a:ext cx="10914380" cy="4494892"/>
          </a:xfrm>
        </p:spPr>
        <p:txBody>
          <a:bodyPr>
            <a:noAutofit/>
          </a:bodyPr>
          <a:lstStyle/>
          <a:p>
            <a:pPr lvl="0" algn="just"/>
            <a:r>
              <a:rPr lang="en-IN" sz="2000" i="1" dirty="0">
                <a:latin typeface="Times New Roman" panose="02020603050405020304" pitchFamily="18" charset="0"/>
                <a:cs typeface="Times New Roman" panose="02020603050405020304" pitchFamily="18" charset="0"/>
              </a:rPr>
              <a:t>The project successfully developed an </a:t>
            </a:r>
            <a:r>
              <a:rPr lang="en-IN" sz="2000" b="1" i="1" dirty="0">
                <a:latin typeface="Times New Roman" panose="02020603050405020304" pitchFamily="18" charset="0"/>
                <a:cs typeface="Times New Roman" panose="02020603050405020304" pitchFamily="18" charset="0"/>
              </a:rPr>
              <a:t>end-to-end agribusiness data analytics workflow</a:t>
            </a:r>
            <a:r>
              <a:rPr lang="en-IN" sz="2000" i="1" dirty="0">
                <a:latin typeface="Times New Roman" panose="02020603050405020304" pitchFamily="18" charset="0"/>
                <a:cs typeface="Times New Roman" panose="02020603050405020304" pitchFamily="18" charset="0"/>
              </a:rPr>
              <a:t> covering data collection, cleaning, visualization, forecasting, and KPI evaluation. </a:t>
            </a:r>
          </a:p>
          <a:p>
            <a:pPr lvl="0" algn="just"/>
            <a:r>
              <a:rPr lang="en-IN" sz="2000" i="1" dirty="0">
                <a:latin typeface="Times New Roman" panose="02020603050405020304" pitchFamily="18" charset="0"/>
                <a:cs typeface="Times New Roman" panose="02020603050405020304" pitchFamily="18" charset="0"/>
              </a:rPr>
              <a:t>Public agribusiness data was transformed into structured and meaningful information for decision-making. </a:t>
            </a:r>
          </a:p>
          <a:p>
            <a:pPr lvl="0" algn="just"/>
            <a:r>
              <a:rPr lang="en-IN" sz="2000" i="1" dirty="0">
                <a:latin typeface="Times New Roman" panose="02020603050405020304" pitchFamily="18" charset="0"/>
                <a:cs typeface="Times New Roman" panose="02020603050405020304" pitchFamily="18" charset="0"/>
              </a:rPr>
              <a:t>Predictive analysis provided a framework for forecasting yield and commodity-price trends using suitable statistical and machine-learning approaches. </a:t>
            </a:r>
          </a:p>
          <a:p>
            <a:pPr lvl="0" algn="just"/>
            <a:r>
              <a:rPr lang="en-IN" sz="2000" i="1" dirty="0">
                <a:latin typeface="Times New Roman" panose="02020603050405020304" pitchFamily="18" charset="0"/>
                <a:cs typeface="Times New Roman" panose="02020603050405020304" pitchFamily="18" charset="0"/>
              </a:rPr>
              <a:t>KPI benchmarking helped identify important performance gaps, particularly in </a:t>
            </a:r>
            <a:r>
              <a:rPr lang="en-IN" sz="2000" b="1" i="1" dirty="0">
                <a:latin typeface="Times New Roman" panose="02020603050405020304" pitchFamily="18" charset="0"/>
                <a:cs typeface="Times New Roman" panose="02020603050405020304" pitchFamily="18" charset="0"/>
              </a:rPr>
              <a:t>Price Risk Coverage, Cost per Ton, Gross Profit Margin, and Water Use Efficiency</a:t>
            </a:r>
            <a:r>
              <a:rPr lang="en-IN" sz="2000" i="1" dirty="0">
                <a:latin typeface="Times New Roman" panose="02020603050405020304" pitchFamily="18" charset="0"/>
                <a:cs typeface="Times New Roman" panose="02020603050405020304" pitchFamily="18" charset="0"/>
              </a:rPr>
              <a:t>. </a:t>
            </a:r>
          </a:p>
          <a:p>
            <a:pPr lvl="0" algn="just"/>
            <a:r>
              <a:rPr lang="en-IN" sz="2000" i="1" dirty="0">
                <a:latin typeface="Times New Roman" panose="02020603050405020304" pitchFamily="18" charset="0"/>
                <a:cs typeface="Times New Roman" panose="02020603050405020304" pitchFamily="18" charset="0"/>
              </a:rPr>
              <a:t>The analysis was converted into actionable strategic recommendations for improving agribusiness performance. </a:t>
            </a:r>
          </a:p>
          <a:p>
            <a:pPr lvl="0" algn="just"/>
            <a:r>
              <a:rPr lang="en-IN" sz="2000" i="1" dirty="0">
                <a:latin typeface="Times New Roman" panose="02020603050405020304" pitchFamily="18" charset="0"/>
                <a:cs typeface="Times New Roman" panose="02020603050405020304" pitchFamily="18" charset="0"/>
              </a:rPr>
              <a:t>The project demonstrates the practical application of </a:t>
            </a:r>
            <a:r>
              <a:rPr lang="en-IN" sz="2000" b="1" i="1" dirty="0">
                <a:latin typeface="Times New Roman" panose="02020603050405020304" pitchFamily="18" charset="0"/>
                <a:cs typeface="Times New Roman" panose="02020603050405020304" pitchFamily="18" charset="0"/>
              </a:rPr>
              <a:t>Python, data analytics, visualization, forecasting, and machine learning concepts</a:t>
            </a:r>
            <a:r>
              <a:rPr lang="en-IN" sz="2000" i="1" dirty="0">
                <a:latin typeface="Times New Roman" panose="02020603050405020304" pitchFamily="18" charset="0"/>
                <a:cs typeface="Times New Roman" panose="02020603050405020304" pitchFamily="18" charset="0"/>
              </a:rPr>
              <a:t> in the agribusiness domain. </a:t>
            </a:r>
          </a:p>
          <a:p>
            <a:pPr lvl="0" algn="just"/>
            <a:r>
              <a:rPr lang="en-IN" sz="2000" i="1" dirty="0">
                <a:latin typeface="Times New Roman" panose="02020603050405020304" pitchFamily="18" charset="0"/>
                <a:cs typeface="Times New Roman" panose="02020603050405020304" pitchFamily="18" charset="0"/>
              </a:rPr>
              <a:t>Overall, the project provides a </a:t>
            </a:r>
            <a:r>
              <a:rPr lang="en-IN" sz="2000" b="1" i="1" dirty="0">
                <a:latin typeface="Times New Roman" panose="02020603050405020304" pitchFamily="18" charset="0"/>
                <a:cs typeface="Times New Roman" panose="02020603050405020304" pitchFamily="18" charset="0"/>
              </a:rPr>
              <a:t>reproducible and structured analytics pipeline</a:t>
            </a:r>
            <a:r>
              <a:rPr lang="en-IN" sz="2000" i="1" dirty="0">
                <a:latin typeface="Times New Roman" panose="02020603050405020304" pitchFamily="18" charset="0"/>
                <a:cs typeface="Times New Roman" panose="02020603050405020304" pitchFamily="18" charset="0"/>
              </a:rPr>
              <a:t> that can support data-driven decision-making. </a:t>
            </a:r>
          </a:p>
          <a:p>
            <a:endParaRPr lang="en-US"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651710" y="1704474"/>
            <a:ext cx="10888579" cy="344905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19900"/>
              <a:buFont typeface="Pinyon Script"/>
              <a:buNone/>
            </a:pPr>
            <a:r>
              <a:rPr lang="en-US" sz="19900" dirty="0">
                <a:latin typeface="Baskerville Old Face" panose="02020602080505020303" pitchFamily="18" charset="0"/>
                <a:ea typeface="Tahoma" panose="020B0604030504040204" pitchFamily="34" charset="0"/>
                <a:cs typeface="Tahoma" panose="020B0604030504040204" pitchFamily="34" charset="0"/>
                <a:sym typeface="Pinyon Script"/>
              </a:rPr>
              <a:t>Thank You</a:t>
            </a:r>
            <a:endParaRPr dirty="0">
              <a:latin typeface="Baskerville Old Face" panose="02020602080505020303" pitchFamily="18" charset="0"/>
              <a:ea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898</Words>
  <Application>Microsoft Office PowerPoint</Application>
  <PresentationFormat>Widescreen</PresentationFormat>
  <Paragraphs>62</Paragraphs>
  <Slides>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Pinyon Script</vt:lpstr>
      <vt:lpstr>Calibri</vt:lpstr>
      <vt:lpstr>Corbel</vt:lpstr>
      <vt:lpstr>Times New Roman</vt:lpstr>
      <vt:lpstr>Play</vt:lpstr>
      <vt:lpstr>Arial</vt:lpstr>
      <vt:lpstr>Baskerville Old Face</vt:lpstr>
      <vt:lpstr>Office Theme</vt:lpstr>
      <vt:lpstr>School of Computer Science and Engineering B.Tech (CSE) 7th Semester</vt:lpstr>
      <vt:lpstr>Outlook of Presentation</vt:lpstr>
      <vt:lpstr>Abstract</vt:lpstr>
      <vt:lpstr>Introduction</vt:lpstr>
      <vt:lpstr>Literature Review</vt:lpstr>
      <vt:lpstr>Implementation</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Computer Science and Engineering B.Tech (CSE) ….. Semester</dc:title>
  <dc:creator>Anil Saroliya</dc:creator>
  <cp:lastModifiedBy>prachi singh</cp:lastModifiedBy>
  <cp:revision>11</cp:revision>
  <dcterms:created xsi:type="dcterms:W3CDTF">2025-07-19T19:52:00Z</dcterms:created>
  <dcterms:modified xsi:type="dcterms:W3CDTF">2026-08-26T18:34:09Z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8915AE4DB77A4B18BEDFCC3914BC6928_13</vt:lpwstr>
  </property>
  <property fmtid="{D5CDD505-2E9C-101B-9397-08002B2CF9AE}" pid="3" name="KSOProductBuildVer">
    <vt:lpwstr>1033-12.1.0.28032</vt:lpwstr>
  </property>
</Properties>
</file>